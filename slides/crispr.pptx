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 2" initials="1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6.xml"/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这个是我大二的时候去北大魏文胜组做的</a:t>
            </a:r>
            <a:r>
              <a:rPr lang="en-US" altLang="zh-CN"/>
              <a:t>summer research</a:t>
            </a:r>
            <a:r>
              <a:rPr lang="zh-CN" altLang="en-US"/>
              <a:t>（是湿实验）</a:t>
            </a:r>
            <a:r>
              <a:rPr lang="en-US" altLang="zh-CN"/>
              <a:t>. </a:t>
            </a:r>
            <a:r>
              <a:rPr lang="zh-CN" altLang="en-US"/>
              <a:t>我们做了一些功能缺失的突变来筛选</a:t>
            </a:r>
            <a:r>
              <a:rPr kumimoji="1" lang="en-US" altLang="zh-CN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TNF-α</a:t>
            </a:r>
            <a:r>
              <a:rPr kumimoji="1" lang="zh-CN" altLang="en-US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导致细胞凋亡的基因。</a:t>
            </a:r>
            <a:r>
              <a:rPr kumimoji="1" lang="en-US" altLang="zh-CN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CRISPR</a:t>
            </a:r>
            <a:r>
              <a:rPr kumimoji="1" lang="zh-CN" altLang="en-US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的原理是</a:t>
            </a:r>
            <a:r>
              <a:rPr kumimoji="1" lang="en-US" altLang="zh-CN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Cas9 </a:t>
            </a:r>
            <a:r>
              <a:rPr kumimoji="1" lang="zh-CN" altLang="en-US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通过</a:t>
            </a:r>
            <a:r>
              <a:rPr kumimoji="1" lang="en-US" altLang="zh-CN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gRNA</a:t>
            </a:r>
            <a:r>
              <a:rPr kumimoji="1" lang="zh-CN" altLang="en-US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靶向基因，导致双链断裂，然后断裂的</a:t>
            </a:r>
            <a:r>
              <a:rPr kumimoji="1" lang="en-US" altLang="zh-CN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DNA</a:t>
            </a:r>
            <a:r>
              <a:rPr kumimoji="1" lang="zh-CN" altLang="en-US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片段</a:t>
            </a:r>
            <a:r>
              <a:rPr lang="zh-CN" altLang="en-US">
                <a:sym typeface="+mn-ea"/>
              </a:rPr>
              <a:t>非同源末端连接修复途径就会造成基因的</a:t>
            </a:r>
            <a:r>
              <a:rPr lang="en-US" altLang="zh-CN">
                <a:sym typeface="+mn-ea"/>
              </a:rPr>
              <a:t>KO</a:t>
            </a:r>
            <a:r>
              <a:rPr lang="zh-CN" altLang="en-US">
                <a:sym typeface="+mn-ea"/>
              </a:rPr>
              <a:t>。然后</a:t>
            </a:r>
            <a:r>
              <a:rPr lang="en-US" altLang="zh-CN">
                <a:sym typeface="+mn-ea"/>
              </a:rPr>
              <a:t>wei lab</a:t>
            </a:r>
            <a:r>
              <a:rPr lang="zh-CN" altLang="en-US">
                <a:sym typeface="+mn-ea"/>
              </a:rPr>
              <a:t>给</a:t>
            </a:r>
            <a:r>
              <a:rPr kumimoji="1" lang="zh-CN" altLang="en-US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sgRNA加入</a:t>
            </a:r>
            <a:r>
              <a:rPr kumimoji="1" lang="en-US" altLang="zh-CN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i</a:t>
            </a:r>
            <a:r>
              <a:rPr kumimoji="1" lang="zh-CN" altLang="en-US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BAR片段来检测假阳性。TNF-α是一种倾向于促炎症和细胞凋亡的分子，因此对</a:t>
            </a:r>
            <a:r>
              <a:rPr lang="zh-CN" altLang="en-US"/>
              <a:t>TNF-α引起细胞死亡有关的基因，有助于找到抗炎药物的靶点。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构建sgRNA库（为每种</a:t>
            </a:r>
            <a:r>
              <a:rPr lang="zh-CN" altLang="en-US">
                <a:sym typeface="+mn-ea"/>
              </a:rPr>
              <a:t>sgRNA分配</a:t>
            </a:r>
            <a:r>
              <a:rPr lang="zh-CN" altLang="en-US"/>
              <a:t>4种不同的iBARs）→用慢病毒感染细胞→3轮TNF-α处理→PCR扩增sgRNA→用iBAR检测假阳性（4种sgRNA的计数变化要一致，不一致的是假阳性）→打分高基因可能与TNF-诱导的凋亡有关</a:t>
            </a:r>
            <a:endParaRPr lang="zh-CN" altLang="en-US"/>
          </a:p>
          <a:p>
            <a:endParaRPr kumimoji="1" lang="zh-CN" altLang="en-US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  <a:p>
            <a:r>
              <a:rPr kumimoji="1" lang="zh-CN" altLang="en-US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每种</a:t>
            </a:r>
            <a:r>
              <a:rPr kumimoji="1" lang="en-US" altLang="zh-CN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sgRNA</a:t>
            </a:r>
            <a:r>
              <a:rPr kumimoji="1" lang="zh-CN" altLang="en-US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随机分配</a:t>
            </a:r>
            <a:r>
              <a:rPr kumimoji="1" lang="en-US" altLang="zh-CN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4</a:t>
            </a:r>
            <a:r>
              <a:rPr kumimoji="1" lang="zh-CN" altLang="en-US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种</a:t>
            </a:r>
            <a:r>
              <a:rPr kumimoji="1" lang="en-US" altLang="zh-CN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ibar, </a:t>
            </a:r>
            <a:r>
              <a:rPr kumimoji="1" lang="zh-CN" altLang="en-US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如果偶然因为搭车效应假阳性，但是带有其他</a:t>
            </a:r>
            <a:r>
              <a:rPr kumimoji="1" lang="en-US" altLang="zh-CN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ibar</a:t>
            </a:r>
            <a:r>
              <a:rPr kumimoji="1" lang="zh-CN" altLang="en-US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的</a:t>
            </a:r>
            <a:r>
              <a:rPr kumimoji="1" lang="en-US" altLang="zh-CN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sgRNA</a:t>
            </a:r>
            <a:r>
              <a:rPr kumimoji="1" lang="zh-CN" altLang="en-US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没有因为搭车效应假阳性，就可以检测出来。</a:t>
            </a:r>
            <a:endParaRPr lang="zh-CN" altLang="en-US"/>
          </a:p>
          <a:p>
            <a:r>
              <a:rPr lang="zh-CN" altLang="en-US"/>
              <a:t>RNA设计的片段是由专业公司合成的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image" Target="../media/image5.png"/><Relationship Id="rId7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5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51904" y="237507"/>
            <a:ext cx="14795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dirty="0">
                <a:solidFill>
                  <a:srgbClr val="44546A"/>
                </a:solidFill>
                <a:cs typeface="+mn-ea"/>
                <a:sym typeface="+mn-lt"/>
              </a:rPr>
              <a:t>Research</a:t>
            </a:r>
            <a:endParaRPr kumimoji="1" lang="zh-CN" altLang="en-US" sz="2400" dirty="0">
              <a:solidFill>
                <a:srgbClr val="44546A"/>
              </a:solidFill>
              <a:cs typeface="+mn-ea"/>
              <a:sym typeface="+mn-lt"/>
            </a:endParaRPr>
          </a:p>
        </p:txBody>
      </p:sp>
      <p:cxnSp>
        <p:nvCxnSpPr>
          <p:cNvPr id="5" name="直线连接符 4"/>
          <p:cNvCxnSpPr/>
          <p:nvPr/>
        </p:nvCxnSpPr>
        <p:spPr>
          <a:xfrm flipV="1">
            <a:off x="3188399" y="1731982"/>
            <a:ext cx="0" cy="410845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66115" y="1786255"/>
            <a:ext cx="1694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defRPr/>
            </a:pPr>
            <a:r>
              <a:rPr kumimoji="1" lang="en-US" altLang="zh-CN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Gene-KO</a:t>
            </a:r>
            <a:endParaRPr kumimoji="1" lang="en-US" altLang="zh-CN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41" name="그래픽 2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95663" y="3383646"/>
            <a:ext cx="371435" cy="360823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7167245" y="2056130"/>
            <a:ext cx="47009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CRISPR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: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Cas9 targets the DNA through sgRNA, causes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DSB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s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.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 iBAR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 is a 6nt sequence designed at frequently changing positions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.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TNF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-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α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1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tends to be pro-inflammatory and apoptotic</a:t>
            </a:r>
            <a:r>
              <a:rPr kumimoji="1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.</a:t>
            </a:r>
            <a:endParaRPr kumimoji="1" 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248998" y="1719246"/>
            <a:ext cx="134429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1" lang="en-US" altLang="en-GB" sz="16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Background</a:t>
            </a:r>
            <a:endParaRPr kumimoji="1" lang="en-US" alt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248998" y="3319888"/>
            <a:ext cx="218821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defRPr/>
            </a:pPr>
            <a:r>
              <a:rPr kumimoji="1" lang="en-US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Functional screening</a:t>
            </a:r>
            <a:endParaRPr kumimoji="1" lang="en-US" altLang="zh-CN" sz="16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303563" y="1718017"/>
            <a:ext cx="6972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dirty="0">
                <a:solidFill>
                  <a:srgbClr val="44546A"/>
                </a:solidFill>
                <a:cs typeface="+mn-ea"/>
                <a:sym typeface="+mn-lt"/>
              </a:rPr>
              <a:t>iBAR</a:t>
            </a:r>
            <a:endParaRPr kumimoji="1" lang="en-US" altLang="zh-CN" dirty="0">
              <a:solidFill>
                <a:srgbClr val="44546A"/>
              </a:solidFill>
              <a:cs typeface="+mn-ea"/>
              <a:sym typeface="+mn-lt"/>
            </a:endParaRPr>
          </a:p>
        </p:txBody>
      </p:sp>
      <p:pic>
        <p:nvPicPr>
          <p:cNvPr id="19" name="그래픽 2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5663" y="1786430"/>
            <a:ext cx="371435" cy="360823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4"/>
            </p:custDataLst>
          </p:nvPr>
        </p:nvSpPr>
        <p:spPr>
          <a:xfrm>
            <a:off x="1151652" y="1070771"/>
            <a:ext cx="55835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CRISPR</a:t>
            </a:r>
            <a:r>
              <a:rPr kumimoji="1" lang="en-US" altLang="zh-CN" sz="240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f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unctional screening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 (TNF-α)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7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66115" y="2409825"/>
            <a:ext cx="2492375" cy="276669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文本框 16"/>
          <p:cNvSpPr txBox="1"/>
          <p:nvPr/>
        </p:nvSpPr>
        <p:spPr>
          <a:xfrm>
            <a:off x="486410" y="6042025"/>
            <a:ext cx="112191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olidFill>
                  <a:schemeClr val="accent3">
                    <a:lumMod val="50000"/>
                  </a:schemeClr>
                </a:solidFill>
              </a:rPr>
              <a:t>Peng, J., Zhou, Y., Zhu, S., &amp; Wei, W. (2015). High‐throughput screens in mammalian cells using the CRISPR‐Cas9 system. The FEBS journal, 282(11), 2089-2096.</a:t>
            </a:r>
            <a:endParaRPr lang="zh-CN" altLang="en-US" sz="140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21" name="图片 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588" r="10620" b="47433"/>
          <a:stretch>
            <a:fillRect/>
          </a:stretch>
        </p:blipFill>
        <p:spPr>
          <a:xfrm>
            <a:off x="3312795" y="2162175"/>
            <a:ext cx="1528445" cy="3115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图片 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rcRect t="52897" b="297"/>
          <a:stretch>
            <a:fillRect/>
          </a:stretch>
        </p:blipFill>
        <p:spPr>
          <a:xfrm>
            <a:off x="4765040" y="2261235"/>
            <a:ext cx="1838325" cy="301688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文本框 29"/>
          <p:cNvSpPr txBox="1"/>
          <p:nvPr>
            <p:custDataLst>
              <p:tags r:id="rId10"/>
            </p:custDataLst>
          </p:nvPr>
        </p:nvSpPr>
        <p:spPr>
          <a:xfrm>
            <a:off x="7249160" y="3752850"/>
            <a:ext cx="48342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Construction </a:t>
            </a:r>
            <a:r>
              <a:rPr kumimoji="1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sgRNA</a:t>
            </a:r>
            <a:r>
              <a:rPr kumimoji="1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library</a:t>
            </a:r>
            <a:r>
              <a:rPr kumimoji="1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(4 different iBARs/sgRNA) </a:t>
            </a:r>
            <a:r>
              <a:rPr kumimoji="1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→</a:t>
            </a:r>
            <a:r>
              <a:rPr kumimoji="1" sz="120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Infection by lentivirus</a:t>
            </a:r>
            <a:r>
              <a:rPr kumimoji="1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→3 rounds of TNF-α  treatment</a:t>
            </a:r>
            <a:r>
              <a:rPr kumimoji="1" lang="zh-CN" altLang="en-US" sz="120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→</a:t>
            </a:r>
            <a:r>
              <a:rPr kumimoji="1" lang="en-US" altLang="zh-CN" sz="120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PCR</a:t>
            </a:r>
            <a:r>
              <a:rPr kumimoji="1" lang="zh-CN" altLang="en-US" sz="120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→</a:t>
            </a:r>
            <a:r>
              <a:rPr kumimoji="1" lang="en-US" altLang="zh-CN" sz="120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D</a:t>
            </a:r>
            <a:r>
              <a:rPr kumimoji="1" lang="zh-CN" altLang="en-US" sz="120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etect false positives</a:t>
            </a:r>
            <a:r>
              <a:rPr kumimoji="1" lang="en-US" altLang="zh-CN" sz="120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by iBAR(count changes of the sgRNA should be consistent) </a:t>
            </a:r>
            <a:r>
              <a:rPr kumimoji="1" lang="zh-CN" altLang="en-US" sz="120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→</a:t>
            </a:r>
            <a:r>
              <a:rPr kumimoji="1" lang="en-US" altLang="zh-CN" sz="120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H</a:t>
            </a:r>
            <a:r>
              <a:rPr kumimoji="1" lang="zh-CN" altLang="en-US" sz="120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igh score </a:t>
            </a:r>
            <a:r>
              <a:rPr kumimoji="1" lang="en-US" altLang="zh-CN" sz="120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is probably</a:t>
            </a:r>
            <a:r>
              <a:rPr kumimoji="1" lang="zh-CN" altLang="en-US" sz="120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kumimoji="1" lang="en-US" altLang="zh-CN" sz="120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related to</a:t>
            </a:r>
            <a:r>
              <a:rPr kumimoji="1" lang="zh-CN" altLang="en-US" sz="120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TNF- induced apoptosis</a:t>
            </a:r>
            <a:endParaRPr kumimoji="1" lang="zh-CN" altLang="en-US" sz="120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COMMONDATA" val="eyJoZGlkIjoiMmJhYTYyNmQyZjIxZmM5OTQyZmY0ZGI0MzQzZDRiOT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</Words>
  <Application>WPS 演示</Application>
  <PresentationFormat>宽屏</PresentationFormat>
  <Paragraphs>21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 Unicode MS</vt:lpstr>
      <vt:lpstr>Calibri</vt:lpstr>
      <vt:lpstr>微软雅黑</vt:lpstr>
      <vt:lpstr>等线</vt:lpstr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2 1</dc:creator>
  <cp:lastModifiedBy>新时代好青年</cp:lastModifiedBy>
  <cp:revision>2</cp:revision>
  <dcterms:created xsi:type="dcterms:W3CDTF">2023-03-13T06:21:00Z</dcterms:created>
  <dcterms:modified xsi:type="dcterms:W3CDTF">2023-03-13T06:22:37Z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B3AB529C18E54D9BB41AEF5509CB5EAB</vt:lpwstr>
  </property>
  <property fmtid="{D5CDD505-2E9C-101B-9397-08002B2CF9AE}" pid="3" name="KSOProductBuildVer">
    <vt:lpwstr>2052-11.1.0.13703</vt:lpwstr>
  </property>
</Properties>
</file>