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23"/>
  </p:handoutMasterIdLst>
  <p:sldIdLst>
    <p:sldId id="362" r:id="rId4"/>
    <p:sldId id="418" r:id="rId6"/>
    <p:sldId id="438" r:id="rId7"/>
    <p:sldId id="439" r:id="rId8"/>
    <p:sldId id="537" r:id="rId9"/>
    <p:sldId id="539" r:id="rId10"/>
    <p:sldId id="541" r:id="rId11"/>
    <p:sldId id="542" r:id="rId12"/>
    <p:sldId id="543" r:id="rId13"/>
    <p:sldId id="545" r:id="rId14"/>
    <p:sldId id="546" r:id="rId15"/>
    <p:sldId id="549" r:id="rId16"/>
    <p:sldId id="529" r:id="rId17"/>
    <p:sldId id="531" r:id="rId18"/>
    <p:sldId id="449" r:id="rId19"/>
    <p:sldId id="533" r:id="rId20"/>
    <p:sldId id="445" r:id="rId21"/>
    <p:sldId id="550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 2" initials="1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FFFF"/>
    <a:srgbClr val="194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6314" autoAdjust="0"/>
  </p:normalViewPr>
  <p:slideViewPr>
    <p:cSldViewPr snapToGrid="0" showGuides="1">
      <p:cViewPr varScale="1">
        <p:scale>
          <a:sx n="59" d="100"/>
          <a:sy n="59" d="100"/>
        </p:scale>
        <p:origin x="56" y="852"/>
      </p:cViewPr>
      <p:guideLst>
        <p:guide orient="horz" pos="2106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5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C303D-B686-4E9A-9B4B-6FD30633AA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DD0AC-7F07-4128-B9A6-9AC6CBCF66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pingfang SC"/>
              </a:rPr>
              <a:t>能提高梯度下降法求解最优解，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避免一些不必要的数值问题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输入变量的数量级未致于会引起数值问题吧，但其实要引起也并不是那么困难。因为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tansig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tanh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）的非线性区间大约在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[-1.7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1.7]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。意味着要使神经元有效，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/>
              </a:rPr>
              <a:t>tansig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( w1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pingfang SC"/>
              </a:rPr>
              <a:t>x1 + w2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x2 +b)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里的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w1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pingfang SC"/>
              </a:rPr>
              <a:t>x1 +w2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x2 +b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数量级应该在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1.7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所在的数量级）左右。这时输入较大，就意味着权值必须较小，一个较大，一个较小，两者相乘，就引起数值问题了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自相关系数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自相关系数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自相关系数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自相关系数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输入： ℎ_t−1 和 x_t而这个决定通过一个称为遗忘门层完成。该门会读取 ℎ_t−1 和 x_t，经过σ函数处理，输出一个在 0 到 1 之间的数值f_t给每个在细胞状态 C_t−1中的数字。 0 表示信息“完全舍弃” ，而1 表示“完全保留” </a:t>
            </a:r>
            <a:endParaRPr kumimoji="1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输入： ℎ_t−1 和 x_t而这个决定通过一个称为遗忘门层完成。该门会读取 ℎ_t−1 和 x_t，经过σ函数处理，输出一个在 0 到 1 之间的数值f_t给每个在细胞状态 C_t−1中的数字。 0 表示信息“完全舍弃” ，而1 表示“完全保留” </a:t>
            </a:r>
            <a:endParaRPr kumimoji="1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3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096000" y="2149867"/>
            <a:ext cx="2558265" cy="2558265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60075" y="2825144"/>
            <a:ext cx="25831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W</a:t>
            </a:r>
            <a:r>
              <a:rPr kumimoji="1" sz="5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eather</a:t>
            </a:r>
            <a:endParaRPr kumimoji="1" sz="5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43334" y="4006001"/>
            <a:ext cx="2988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Mach</a:t>
            </a:r>
            <a:r>
              <a:rPr kumimoji="1" 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ine</a:t>
            </a:r>
            <a:r>
              <a:rPr kumimoji="1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Learning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燕尾形 5"/>
          <p:cNvSpPr/>
          <p:nvPr/>
        </p:nvSpPr>
        <p:spPr>
          <a:xfrm flipH="1">
            <a:off x="10361691" y="4123250"/>
            <a:ext cx="208052" cy="208052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9" name="直线连接符 8"/>
          <p:cNvCxnSpPr/>
          <p:nvPr/>
        </p:nvCxnSpPr>
        <p:spPr>
          <a:xfrm>
            <a:off x="1714891" y="3462407"/>
            <a:ext cx="366208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9060621" y="1752538"/>
            <a:ext cx="397329" cy="397329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27960" y="2435099"/>
            <a:ext cx="209070" cy="209070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7016366" y="4227276"/>
            <a:ext cx="339777" cy="0"/>
          </a:xfrm>
          <a:prstGeom prst="line">
            <a:avLst/>
          </a:prstGeom>
          <a:ln w="4445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90550" y="2255520"/>
            <a:ext cx="52762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Weather Forecasting </a:t>
            </a:r>
            <a:r>
              <a:rPr kumimoji="1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Based on LSTM/ARIMA </a:t>
            </a:r>
            <a:endParaRPr kumimoji="1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61110" y="3504565"/>
            <a:ext cx="4225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Group07  MinsiLu, 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Cheng Peng, Dejin Kong, Hanli Wang, Qi Tian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25/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8/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2022</a:t>
            </a:r>
            <a:endParaRPr kumimoji="1" lang="en-US" altLang="zh-CN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255843" y="4972111"/>
            <a:ext cx="209070" cy="209070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377185" y="1912052"/>
            <a:ext cx="2916000" cy="2916000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77185" y="4764589"/>
            <a:ext cx="397329" cy="397329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14622" y="4901681"/>
            <a:ext cx="209070" cy="209070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288951" y="2408609"/>
            <a:ext cx="209070" cy="209070"/>
          </a:xfrm>
          <a:prstGeom prst="flowChartConnector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84375" y="2978150"/>
            <a:ext cx="365950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CONTENTS</a:t>
            </a:r>
            <a:endParaRPr kumimoji="1" lang="en-US" altLang="zh-CN" sz="45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02283" y="1327760"/>
            <a:ext cx="787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17216" y="3318452"/>
            <a:ext cx="7785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5080" y="1451610"/>
            <a:ext cx="2285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Introduction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0200" y="2137410"/>
            <a:ext cx="79089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Topic</a:t>
            </a:r>
            <a:endParaRPr kumimoji="0" lang="zh-CN" sz="2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D</a:t>
            </a:r>
            <a:r>
              <a:rPr kumimoji="0" 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ata processing</a:t>
            </a:r>
            <a:endParaRPr kumimoji="0" lang="zh-CN" sz="2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22085" y="3441700"/>
            <a:ext cx="2285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M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odel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02450" y="398907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LSTM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omparison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9461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kern="1200" cap="none" spc="0" normalizeH="0" baseline="0" noProof="0">
                <a:solidFill>
                  <a:srgbClr val="44546A"/>
                </a:solidFill>
                <a:cs typeface="+mn-ea"/>
                <a:sym typeface="+mn-lt"/>
              </a:rPr>
              <a:t>Topic</a:t>
            </a:r>
            <a:endParaRPr kumimoji="1" lang="zh-CN" altLang="en-US" sz="2400" b="0" i="0" kern="1200" cap="none" spc="0" normalizeH="0" baseline="0" noProof="0">
              <a:solidFill>
                <a:srgbClr val="44546A"/>
              </a:solidFill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776651" y="2696845"/>
            <a:ext cx="4958080" cy="2151380"/>
            <a:chOff x="1598073" y="2030698"/>
            <a:chExt cx="5562187" cy="2151380"/>
          </a:xfrm>
        </p:grpSpPr>
        <p:sp>
          <p:nvSpPr>
            <p:cNvPr id="22" name="文本框 21"/>
            <p:cNvSpPr txBox="1"/>
            <p:nvPr/>
          </p:nvSpPr>
          <p:spPr>
            <a:xfrm>
              <a:off x="1598151" y="2030698"/>
              <a:ext cx="524162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dirty="0">
                  <a:solidFill>
                    <a:srgbClr val="44546A"/>
                  </a:solidFill>
                  <a:cs typeface="+mn-ea"/>
                  <a:sym typeface="+mn-lt"/>
                </a:rPr>
                <a:t>ARIMA</a:t>
              </a:r>
              <a:endParaRPr lang="en-US" altLang="zh-CN" dirty="0">
                <a:solidFill>
                  <a:srgbClr val="44546A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598073" y="2338038"/>
              <a:ext cx="5562187" cy="1844040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fontAlgn="auto">
                <a:lnSpc>
                  <a:spcPct val="12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utoregressive integrated moving average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model, 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Applicable to non-stationary time series, its difference process can effectively convert non-stationary data to stationary data</a:t>
              </a:r>
              <a:endPara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76720" y="4914265"/>
            <a:ext cx="5037455" cy="1461135"/>
            <a:chOff x="1583826" y="2206593"/>
            <a:chExt cx="5241698" cy="1461135"/>
          </a:xfrm>
        </p:grpSpPr>
        <p:sp>
          <p:nvSpPr>
            <p:cNvPr id="7" name="文本框 6"/>
            <p:cNvSpPr txBox="1"/>
            <p:nvPr/>
          </p:nvSpPr>
          <p:spPr>
            <a:xfrm>
              <a:off x="1583904" y="2206593"/>
              <a:ext cx="524162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dirty="0">
                  <a:solidFill>
                    <a:srgbClr val="44546A"/>
                  </a:solidFill>
                  <a:cs typeface="+mn-ea"/>
                  <a:sym typeface="+mn-lt"/>
                </a:rPr>
                <a:t>LSTM</a:t>
              </a:r>
              <a:endParaRPr lang="en-US" altLang="zh-CN" dirty="0">
                <a:solidFill>
                  <a:srgbClr val="44546A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583826" y="2579973"/>
              <a:ext cx="4949648" cy="10877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fontAlgn="auto">
                <a:lnSpc>
                  <a:spcPct val="12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ong short-term memory network,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fontAlgn="auto">
                <a:lnSpc>
                  <a:spcPct val="120000"/>
                </a:lnSpc>
              </a:pP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Suitable for processing and forecasting events with long intervals in time series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673851" y="1059815"/>
            <a:ext cx="467233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>
                <a:solidFill>
                  <a:srgbClr val="44546A"/>
                </a:solidFill>
                <a:cs typeface="+mn-ea"/>
                <a:sym typeface="+mn-lt"/>
              </a:rPr>
              <a:t>G</a:t>
            </a:r>
            <a:r>
              <a:rPr lang="zh-CN" altLang="en-US" dirty="0">
                <a:solidFill>
                  <a:srgbClr val="44546A"/>
                </a:solidFill>
                <a:cs typeface="+mn-ea"/>
                <a:sym typeface="+mn-lt"/>
              </a:rPr>
              <a:t>lobal </a:t>
            </a:r>
            <a:r>
              <a:rPr lang="en-US" altLang="zh-CN" dirty="0">
                <a:solidFill>
                  <a:srgbClr val="44546A"/>
                </a:solidFill>
                <a:cs typeface="+mn-ea"/>
                <a:sym typeface="+mn-lt"/>
              </a:rPr>
              <a:t>W</a:t>
            </a:r>
            <a:r>
              <a:rPr lang="zh-CN" altLang="en-US" dirty="0">
                <a:solidFill>
                  <a:srgbClr val="44546A"/>
                </a:solidFill>
                <a:cs typeface="+mn-ea"/>
                <a:sym typeface="+mn-lt"/>
              </a:rPr>
              <a:t>arming</a:t>
            </a:r>
            <a:endParaRPr lang="zh-CN" altLang="en-US" dirty="0">
              <a:solidFill>
                <a:srgbClr val="44546A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73781" y="1428115"/>
            <a:ext cx="4575244" cy="1087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fontAlgn="auto">
              <a:lnSpc>
                <a:spcPct val="120000"/>
              </a:lnSpc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This year, the highest temperature in some southern cities even exceeded 40 degrees.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624840" y="3679825"/>
            <a:ext cx="5719445" cy="297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 rot="19020000">
            <a:off x="5417185" y="5553075"/>
            <a:ext cx="388620" cy="2317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19020000">
            <a:off x="1045210" y="5588000"/>
            <a:ext cx="461010" cy="1625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090" y="1137285"/>
            <a:ext cx="2255520" cy="2374900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624840" y="1059815"/>
            <a:ext cx="3010535" cy="25298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40104" y="1536700"/>
            <a:ext cx="10259761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Data missing：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6 entries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000" dirty="0">
              <a:solidFill>
                <a:srgbClr val="44546A"/>
              </a:solidFill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539750"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1904" y="237507"/>
            <a:ext cx="25279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noProof="0">
                <a:solidFill>
                  <a:srgbClr val="44546A"/>
                </a:solidFill>
                <a:cs typeface="+mn-ea"/>
                <a:sym typeface="+mn-lt"/>
              </a:rPr>
              <a:t>Data processing</a:t>
            </a:r>
            <a:endParaRPr kumimoji="1" lang="zh-CN" altLang="en-US" sz="2400" noProof="0">
              <a:solidFill>
                <a:srgbClr val="44546A"/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45" y="2244725"/>
            <a:ext cx="4165600" cy="1308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6330"/>
          <a:stretch>
            <a:fillRect/>
          </a:stretch>
        </p:blipFill>
        <p:spPr>
          <a:xfrm>
            <a:off x="601345" y="3719195"/>
            <a:ext cx="5196840" cy="1079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983605" y="1798320"/>
                <a:ext cx="5764530" cy="3704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b="1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Data source: </a:t>
                </a:r>
                <a:r>
                  <a:rPr kumimoji="1" lang="zh-CN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www.meteomanz.com</a:t>
                </a:r>
                <a:endParaRPr kumimoji="1" lang="zh-CN" altLang="en-US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standardization</a:t>
                </a:r>
                <a:r>
                  <a:rPr kumimoji="1" lang="zh-CN" altLang="en-US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：</a:t>
                </a:r>
                <a:endParaRPr kumimoji="1" lang="zh-CN" altLang="en-US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Make different feature variables have the same scale.</a:t>
                </a:r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</a:t>
                </a:r>
                <a:r>
                  <a:rPr kumimoji="1" lang="zh-CN" altLang="en-US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Accelerated convergence when using gradient descent</a:t>
                </a:r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.</a:t>
                </a:r>
                <a:endParaRPr kumimoji="1" lang="zh-CN" altLang="en-US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ar-AE" altLang="zh-CN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kumimoji="1" lang="zh-CN" altLang="ar-AE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∗</m:t>
                          </m:r>
                        </m:sup>
                      </m:sSup>
                      <m:r>
                        <a:rPr kumimoji="1" lang="ar-AE" altLang="zh-CN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kumimoji="1" lang="ar-AE" altLang="zh-CN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kumimoji="1" lang="zh-CN" altLang="ar-AE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r>
                            <a:rPr kumimoji="1" lang="zh-CN" alt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𝜇</m:t>
                          </m:r>
                        </m:num>
                        <m:den>
                          <m:r>
                            <a:rPr kumimoji="1" lang="zh-CN" altLang="ar-AE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kumimoji="1" lang="ar-AE" altLang="zh-CN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539750" marR="0" lvl="0" indent="0" algn="l" defTabSz="914400" rt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>
                    <a:solidFill>
                      <a:schemeClr val="accent3">
                        <a:lumMod val="50000"/>
                      </a:schemeClr>
                    </a:solidFill>
                  </a:rPr>
                  <a:t>The processed data is a standard normal</a:t>
                </a:r>
                <a:r>
                  <a:rPr lang="en-US" altLang="zh-CN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accent3">
                        <a:lumMod val="50000"/>
                      </a:schemeClr>
                    </a:solidFill>
                  </a:rPr>
                  <a:t>distribution</a:t>
                </a:r>
                <a:r>
                  <a:rPr lang="en-US" altLang="zh-CN">
                    <a:solidFill>
                      <a:schemeClr val="accent3">
                        <a:lumMod val="50000"/>
                      </a:schemeClr>
                    </a:solidFill>
                  </a:rPr>
                  <a:t>.</a:t>
                </a:r>
                <a:endParaRPr lang="en-US" altLang="zh-CN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605" y="1798320"/>
                <a:ext cx="5764530" cy="37045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4965065"/>
            <a:ext cx="4254500" cy="1238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08" y="1090267"/>
            <a:ext cx="371435" cy="36082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26160" y="1090295"/>
            <a:ext cx="1077404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>
                <a:solidFill>
                  <a:schemeClr val="tx2"/>
                </a:solidFill>
              </a:rPr>
              <a:t>Difference:</a:t>
            </a:r>
            <a:r>
              <a:rPr dirty="0">
                <a:solidFill>
                  <a:schemeClr val="accent3">
                    <a:lumMod val="50000"/>
                  </a:schemeClr>
                </a:solidFill>
              </a:rPr>
              <a:t> Find the difference between the time series at time t and t-1 to form a new series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  <a:p>
            <a:pPr algn="l"/>
            <a:endParaRPr lang="en-US" altLang="zh-CN" sz="3200" dirty="0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410" y="1517015"/>
            <a:ext cx="8489950" cy="4852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08" y="1090267"/>
            <a:ext cx="371435" cy="36082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25843" y="1090267"/>
            <a:ext cx="102718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600" dirty="0">
                <a:solidFill>
                  <a:schemeClr val="tx2"/>
                </a:solidFill>
              </a:rPr>
              <a:t>Autoregressive Model (AR)</a:t>
            </a:r>
            <a:r>
              <a:rPr lang="zh-CN" altLang="en-US" sz="3600" dirty="0">
                <a:solidFill>
                  <a:schemeClr val="tx2"/>
                </a:solidFill>
              </a:rPr>
              <a:t>：</a:t>
            </a:r>
            <a:endParaRPr lang="en-US" altLang="zh-CN" sz="3600" dirty="0">
              <a:solidFill>
                <a:schemeClr val="tx2"/>
              </a:solidFill>
            </a:endParaRPr>
          </a:p>
          <a:p>
            <a:endParaRPr lang="en-US" altLang="zh-CN" dirty="0"/>
          </a:p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Describe the relationship between the </a:t>
            </a:r>
            <a:r>
              <a:rPr lang="zh-CN" altLang="en-US" sz="3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current value and the historical value</a:t>
            </a: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and use the historical time data of the variable itself to predict itself.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381" y="4027598"/>
            <a:ext cx="1016736" cy="9580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/>
          <a:stretch>
            <a:fillRect/>
          </a:stretch>
        </p:blipFill>
        <p:spPr>
          <a:xfrm>
            <a:off x="4727575" y="3794125"/>
            <a:ext cx="3357880" cy="142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08" y="1090267"/>
            <a:ext cx="371435" cy="36082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25843" y="1090267"/>
            <a:ext cx="1027181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</a:rPr>
              <a:t>Moving </a:t>
            </a:r>
            <a:r>
              <a:rPr lang="en-US" altLang="zh-CN" sz="3600" dirty="0">
                <a:solidFill>
                  <a:schemeClr val="tx2"/>
                </a:solidFill>
              </a:rPr>
              <a:t>A</a:t>
            </a:r>
            <a:r>
              <a:rPr lang="zh-CN" altLang="en-US" sz="3600" dirty="0">
                <a:solidFill>
                  <a:schemeClr val="tx2"/>
                </a:solidFill>
              </a:rPr>
              <a:t>verage model（</a:t>
            </a:r>
            <a:r>
              <a:rPr lang="en-US" altLang="zh-CN" sz="3600" dirty="0">
                <a:solidFill>
                  <a:schemeClr val="tx2"/>
                </a:solidFill>
              </a:rPr>
              <a:t>MA</a:t>
            </a:r>
            <a:r>
              <a:rPr lang="zh-CN" altLang="en-US" sz="3600" dirty="0">
                <a:solidFill>
                  <a:schemeClr val="tx2"/>
                </a:solidFill>
              </a:rPr>
              <a:t>）：</a:t>
            </a:r>
            <a:endParaRPr lang="en-US" altLang="zh-CN" sz="3600" dirty="0">
              <a:solidFill>
                <a:schemeClr val="tx2"/>
              </a:solidFill>
            </a:endParaRPr>
          </a:p>
          <a:p>
            <a:endParaRPr lang="en-US" altLang="zh-CN" dirty="0"/>
          </a:p>
          <a:p>
            <a:pPr algn="l"/>
            <a:r>
              <a:rPr lang="zh-CN" altLang="en-US" sz="25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Describe the relationship between the </a:t>
            </a:r>
            <a:r>
              <a:rPr lang="zh-CN" altLang="en-US" sz="2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current value and the error</a:t>
            </a:r>
            <a:r>
              <a:rPr lang="zh-CN" altLang="en-US" sz="25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, and use the linear combination of the error to predict itself.</a:t>
            </a:r>
            <a:endParaRPr lang="zh-CN" altLang="en-US" sz="2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843" y="5144429"/>
            <a:ext cx="11248057" cy="2076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500">
                <a:solidFill>
                  <a:schemeClr val="accent3">
                    <a:lumMod val="50000"/>
                  </a:schemeClr>
                </a:solidFill>
              </a:rPr>
              <a:t>The starting point of MA is to observe the oscillation of the residuals by combining the residual terms, each value of yt can be thought of as a weighted moving average of the past few forecast errors</a:t>
            </a:r>
            <a:endParaRPr sz="2500">
              <a:solidFill>
                <a:schemeClr val="accent3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1" t="14246"/>
          <a:stretch>
            <a:fillRect/>
          </a:stretch>
        </p:blipFill>
        <p:spPr>
          <a:xfrm>
            <a:off x="4746625" y="3071495"/>
            <a:ext cx="4041775" cy="15824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656" y="3285230"/>
            <a:ext cx="1016736" cy="958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33212" y="350203"/>
            <a:ext cx="24913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633212" y="1139718"/>
            <a:ext cx="1003024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9" idx="0"/>
          </p:cNvCxnSpPr>
          <p:nvPr/>
        </p:nvCxnSpPr>
        <p:spPr>
          <a:xfrm flipH="1">
            <a:off x="2901238" y="1197120"/>
            <a:ext cx="2200507" cy="9541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399540" y="2151295"/>
            <a:ext cx="3003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uto</a:t>
            </a:r>
            <a:r>
              <a:rPr lang="en-US" altLang="zh-CN" sz="2800" b="0" i="0" dirty="0"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egressive</a:t>
            </a:r>
            <a:endParaRPr lang="en-US" altLang="zh-CN" sz="28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箭头连接符 11"/>
          <p:cNvCxnSpPr>
            <a:endCxn id="13" idx="0"/>
          </p:cNvCxnSpPr>
          <p:nvPr/>
        </p:nvCxnSpPr>
        <p:spPr>
          <a:xfrm flipH="1">
            <a:off x="5101745" y="1239598"/>
            <a:ext cx="609600" cy="9116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023794" y="2151295"/>
            <a:ext cx="2155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ntegrated</a:t>
            </a:r>
            <a:endParaRPr lang="en-US" altLang="zh-CN" sz="28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5904633" y="1139718"/>
            <a:ext cx="1085385" cy="8543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40" idx="0"/>
          </p:cNvCxnSpPr>
          <p:nvPr/>
        </p:nvCxnSpPr>
        <p:spPr>
          <a:xfrm>
            <a:off x="6372984" y="1239598"/>
            <a:ext cx="1405054" cy="9154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904633" y="2155008"/>
            <a:ext cx="374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oving</a:t>
            </a:r>
            <a:r>
              <a:rPr lang="en-US" altLang="zh-CN" sz="2800" b="0" i="0" dirty="0">
                <a:solidFill>
                  <a:srgbClr val="11111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800" b="0" i="0" dirty="0"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verage</a:t>
            </a:r>
            <a:endParaRPr lang="en-US" altLang="zh-CN" sz="28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818819" y="2158721"/>
            <a:ext cx="2007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14096" y="2839486"/>
            <a:ext cx="10300691" cy="17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  </a:t>
            </a:r>
            <a:r>
              <a:rPr lang="zh-CN" altLang="en-US" sz="2500" dirty="0"/>
              <a:t> </a:t>
            </a:r>
            <a:r>
              <a:rPr lang="zh-CN" altLang="en-US" sz="2500" dirty="0">
                <a:solidFill>
                  <a:schemeClr val="accent3">
                    <a:lumMod val="50000"/>
                  </a:schemeClr>
                </a:solidFill>
              </a:rPr>
              <a:t>The model established by transforming the non-stationary time series into a stationary time series and then regressing the dependent variable only on its lag value and the present and subsequent values ​​of the random error term.</a:t>
            </a:r>
            <a:endParaRPr lang="zh-CN" altLang="en-US" sz="25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98905" y="5661660"/>
            <a:ext cx="1048829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000">
                <a:solidFill>
                  <a:srgbClr val="00B050"/>
                </a:solidFill>
              </a:rPr>
              <a:t>Key: determine the 3 parameters p, d, q</a:t>
            </a:r>
            <a:endParaRPr sz="4000">
              <a:solidFill>
                <a:srgbClr val="00B050"/>
              </a:solidFill>
            </a:endParaRPr>
          </a:p>
          <a:p>
            <a:endParaRPr lang="zh-CN" altLang="en-US" dirty="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431" y="4735472"/>
            <a:ext cx="4308322" cy="925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0" b="4479"/>
          <a:stretch>
            <a:fillRect/>
          </a:stretch>
        </p:blipFill>
        <p:spPr>
          <a:xfrm>
            <a:off x="169545" y="1903095"/>
            <a:ext cx="7037070" cy="48348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51904" y="23750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08" y="1090267"/>
            <a:ext cx="371435" cy="36082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25843" y="1090267"/>
            <a:ext cx="102718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</a:rPr>
              <a:t>ACF</a:t>
            </a:r>
            <a:r>
              <a:rPr lang="zh-CN" altLang="en-US" sz="3200" dirty="0">
                <a:solidFill>
                  <a:schemeClr val="tx2"/>
                </a:solidFill>
              </a:rPr>
              <a:t>（</a:t>
            </a:r>
            <a:r>
              <a:rPr lang="en-US" altLang="zh-CN" sz="3200" dirty="0">
                <a:solidFill>
                  <a:schemeClr val="tx2"/>
                </a:solidFill>
              </a:rPr>
              <a:t>autocorrelation function</a:t>
            </a:r>
            <a:r>
              <a:rPr lang="zh-CN" altLang="en-US" sz="3200" dirty="0">
                <a:solidFill>
                  <a:schemeClr val="tx2"/>
                </a:solidFill>
              </a:rPr>
              <a:t>）</a:t>
            </a:r>
            <a:endParaRPr lang="en-US" altLang="zh-CN" sz="3200" dirty="0">
              <a:solidFill>
                <a:schemeClr val="tx2"/>
              </a:solidFill>
            </a:endParaRPr>
          </a:p>
          <a:p>
            <a:r>
              <a:rPr lang="en-US" altLang="zh-CN" sz="3200" dirty="0">
                <a:solidFill>
                  <a:schemeClr val="tx2"/>
                </a:solidFill>
              </a:rPr>
              <a:t>PACF</a:t>
            </a:r>
            <a:r>
              <a:rPr lang="zh-CN" altLang="en-US" sz="3200" dirty="0">
                <a:solidFill>
                  <a:schemeClr val="tx2"/>
                </a:solidFill>
              </a:rPr>
              <a:t>（</a:t>
            </a:r>
            <a:r>
              <a:rPr lang="en-US" altLang="zh-CN" sz="3200" dirty="0">
                <a:solidFill>
                  <a:schemeClr val="tx2"/>
                </a:solidFill>
              </a:rPr>
              <a:t>partial autocorrelation function</a:t>
            </a:r>
            <a:r>
              <a:rPr lang="zh-CN" altLang="en-US" sz="3200" dirty="0">
                <a:solidFill>
                  <a:schemeClr val="tx2"/>
                </a:solidFill>
              </a:rPr>
              <a:t>）</a:t>
            </a:r>
            <a:endParaRPr lang="en-US" altLang="zh-CN" sz="3200" dirty="0">
              <a:solidFill>
                <a:schemeClr val="tx2"/>
              </a:solidFill>
            </a:endParaRPr>
          </a:p>
          <a:p>
            <a:endParaRPr lang="en-US" altLang="zh-CN" sz="3200" dirty="0">
              <a:solidFill>
                <a:schemeClr val="tx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45358" y="3049420"/>
            <a:ext cx="4722857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chemeClr val="tx2"/>
                </a:solidFill>
                <a:sym typeface="+mn-ea"/>
              </a:rPr>
              <a:t>ACF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sym typeface="+mn-ea"/>
              </a:rPr>
              <a:t> also incorporates the effects of other variables</a:t>
            </a:r>
            <a:endParaRPr sz="2800" dirty="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endParaRPr sz="2800" dirty="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r>
              <a:rPr sz="2800" b="1" dirty="0">
                <a:solidFill>
                  <a:schemeClr val="tx2"/>
                </a:solidFill>
                <a:sym typeface="+mn-ea"/>
              </a:rPr>
              <a:t>PACF 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sym typeface="+mn-ea"/>
              </a:rPr>
              <a:t>is a strict association between two variables</a:t>
            </a:r>
            <a:endParaRPr sz="2800" dirty="0">
              <a:solidFill>
                <a:schemeClr val="accent3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08" y="1090267"/>
            <a:ext cx="371435" cy="36082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08258" y="1090267"/>
            <a:ext cx="102718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</a:rPr>
              <a:t>p</a:t>
            </a:r>
            <a:r>
              <a:rPr lang="zh-CN" altLang="en-US" sz="3200" dirty="0">
                <a:solidFill>
                  <a:schemeClr val="tx2"/>
                </a:solidFill>
              </a:rPr>
              <a:t> looks at the PACF diagram, q looks at the ACF diagram (AIC, BIC test</a:t>
            </a:r>
            <a:r>
              <a:rPr lang="en-US" altLang="zh-CN" sz="3200" dirty="0">
                <a:solidFill>
                  <a:schemeClr val="tx2"/>
                </a:solidFill>
              </a:rPr>
              <a:t>)</a:t>
            </a:r>
            <a:endParaRPr lang="en-US" altLang="zh-CN" sz="3200" dirty="0">
              <a:solidFill>
                <a:schemeClr val="tx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3943" y="2649952"/>
            <a:ext cx="919991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</a:rPr>
              <a:t>Model Checking: Residuals Test</a:t>
            </a:r>
            <a:endParaRPr lang="zh-CN" altLang="en-US" sz="3200" dirty="0">
              <a:solidFill>
                <a:schemeClr val="tx2"/>
              </a:solidFill>
            </a:endParaRPr>
          </a:p>
        </p:txBody>
      </p:sp>
      <p:pic>
        <p:nvPicPr>
          <p:cNvPr id="10" name="그래픽 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538" y="2714389"/>
            <a:ext cx="371435" cy="36082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3317" y="3324091"/>
            <a:ext cx="1027181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the residuals of the ARIMA model normally distributed with a mean of 0 and a constant variance?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QQ plot: linear or normal distribution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58" y="727842"/>
            <a:ext cx="11437883" cy="571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90" y="1668145"/>
            <a:ext cx="11304905" cy="47104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00908" y="468923"/>
            <a:ext cx="862232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2"/>
                </a:solidFill>
              </a:rPr>
              <a:t>Results</a:t>
            </a:r>
            <a:endParaRPr lang="en-US" altLang="zh-CN" sz="3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9874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54905" y="1313180"/>
            <a:ext cx="6809740" cy="48869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51134" y="1590391"/>
            <a:ext cx="364680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Long Short-Term Memory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51180" y="2225675"/>
                <a:ext cx="4288155" cy="4077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Forget gate：</a:t>
                </a:r>
                <a:r>
                  <a:rPr kumimoji="1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decide how much</a:t>
                </a:r>
                <a:r>
                  <a:rPr kumimoji="1" lang="en-US" altLang="zh-CN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𝑡</m:t>
                        </m:r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−</m:t>
                        </m:r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kumimoji="1" lang="en-US" altLang="zh-CN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lt"/>
                      </a:rPr>
                      <m:t> </m:t>
                    </m:r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retains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Input Gate：</a:t>
                </a:r>
                <a:r>
                  <a:rPr kumimoji="1" lang="zh-CN" altLang="en-US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Determines what information is stored in the cell state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 </m:t>
                        </m:r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𝑡</m:t>
                        </m:r>
                      </m:sub>
                    </m:sSub>
                  </m:oMath>
                </a14:m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σ layer - input gate layer</a:t>
                </a:r>
                <a:r>
                  <a:rPr kumimoji="1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: 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decides what values ​​to update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tanh </a:t>
                </a:r>
                <a:r>
                  <a:rPr kumimoji="1" b="1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layer</a:t>
                </a:r>
                <a:r>
                  <a:rPr kumimoji="1" lang="en-US" b="1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: </a:t>
                </a:r>
                <a:r>
                  <a:rPr kumimoji="1" lang="en-US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creates a new candidate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kumimoji="1" lang="en-US" altLang="zh-CN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lt"/>
                              </a:rPr>
                            </m:ctrlPr>
                          </m:accPr>
                          <m:e>
                            <m:r>
                              <a:rPr kumimoji="1" lang="en-US" altLang="zh-CN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lt"/>
                              </a:rPr>
                              <m:t> </m:t>
                            </m:r>
                            <m:r>
                              <a:rPr kumimoji="1" lang="en-US" altLang="zh-CN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lt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kumimoji="1" lang="en-US" altLang="zh-CN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，which is added to the state</a:t>
                </a:r>
                <a:endPara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" y="2225675"/>
                <a:ext cx="4288155" cy="40779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55" y="1681480"/>
            <a:ext cx="6436360" cy="19881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7155" y="1500505"/>
            <a:ext cx="1675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kumimoji="1"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Forget gate：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315" y="4131945"/>
            <a:ext cx="5971540" cy="1844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77155" y="3829050"/>
            <a:ext cx="15690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kumimoji="1"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Input Gate：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9874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77155" y="1375410"/>
            <a:ext cx="6587490" cy="48869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775970" y="2874010"/>
                <a:ext cx="4297045" cy="117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Cell state: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𝑡</m:t>
                        </m:r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−</m:t>
                        </m:r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is updated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lt"/>
                          </a:rPr>
                          <m:t>𝑡</m:t>
                        </m:r>
                      </m:sub>
                    </m:sSub>
                  </m:oMath>
                </a14:m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Output gate: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determines what information is output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70" y="2874010"/>
                <a:ext cx="4297045" cy="11703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365750" y="1500505"/>
            <a:ext cx="19272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kumimoji="1" lang="en-US" altLang="zh-CN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S</a:t>
            </a:r>
            <a:r>
              <a:rPr kumimoji="1"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tatus update：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365750" y="3829050"/>
            <a:ext cx="22212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Output gate：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50" y="1794510"/>
            <a:ext cx="5880735" cy="18167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50" y="4197350"/>
            <a:ext cx="6125845" cy="18923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51134" y="1590391"/>
            <a:ext cx="364680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Long Short-Term Memory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6808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LSTM_loss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560060" y="3396615"/>
            <a:ext cx="667385" cy="4445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7390" y="1296670"/>
            <a:ext cx="5520055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epochs = </a:t>
            </a: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200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1841500"/>
            <a:ext cx="5291455" cy="37985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499860" y="1391920"/>
            <a:ext cx="5520055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epochs = </a:t>
            </a: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50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5" name="图片 14" descr="10,400,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330" y="1841500"/>
            <a:ext cx="4925695" cy="3694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20732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LSTM_</a:t>
            </a:r>
            <a:r>
              <a:rPr kumimoji="1" lang="en-US" altLang="zh-CN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results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 descr="10,400,50_2"/>
          <p:cNvPicPr>
            <a:picLocks noChangeAspect="1"/>
          </p:cNvPicPr>
          <p:nvPr/>
        </p:nvPicPr>
        <p:blipFill>
          <a:blip r:embed="rId1"/>
          <a:srcRect l="6886" t="3775" r="5711" b="4349"/>
          <a:stretch>
            <a:fillRect/>
          </a:stretch>
        </p:blipFill>
        <p:spPr>
          <a:xfrm>
            <a:off x="1151890" y="1397000"/>
            <a:ext cx="9277350" cy="406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20732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LSTM_</a:t>
            </a:r>
            <a:r>
              <a:rPr kumimoji="1" lang="en-US" altLang="zh-CN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results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kern="1200" cap="none" spc="0" normalizeH="0" baseline="0" noProof="0">
              <a:solidFill>
                <a:srgbClr val="44546A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51951" y="1078686"/>
            <a:ext cx="288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sz="2800" b="0" i="0" kern="1200" cap="none" spc="0" normalizeH="0" baseline="0" noProof="0" dirty="0">
                <a:solidFill>
                  <a:srgbClr val="44546A"/>
                </a:solidFill>
                <a:cs typeface="+mn-ea"/>
                <a:sym typeface="+mn-lt"/>
              </a:rPr>
              <a:t> </a:t>
            </a:r>
            <a:endParaRPr kumimoji="1" sz="2800" b="0" i="0" kern="1200" cap="none" spc="0" normalizeH="0" baseline="0" noProof="0" dirty="0">
              <a:solidFill>
                <a:srgbClr val="44546A"/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1091565"/>
            <a:ext cx="9404350" cy="4702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9450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Comparison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82345" y="1438910"/>
            <a:ext cx="4021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ARIMA</a:t>
            </a:r>
            <a:endParaRPr kumimoji="1" 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51890" y="1960880"/>
            <a:ext cx="41827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{'MSE': 9.969345864182324, 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'RMSE': 3.157427095624272, 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'MAE': 2.559141936706577, </a:t>
            </a:r>
            <a:endParaRPr kumimoji="1" lang="en-US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'MAPE': 0.10267555639458789}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089650" y="1364615"/>
            <a:ext cx="0" cy="3958590"/>
          </a:xfrm>
          <a:prstGeom prst="line">
            <a:avLst/>
          </a:prstGeom>
          <a:ln w="12700" cmpd="sng">
            <a:solidFill>
              <a:srgbClr val="44546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475095" y="1438910"/>
            <a:ext cx="4021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LSTM</a:t>
            </a:r>
            <a:endParaRPr kumimoji="1" 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75095" y="1960880"/>
            <a:ext cx="41827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{'MSE': 2.881874188213326,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'RMSE': 1.697608373039355,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ea"/>
                <a:sym typeface="+mn-lt"/>
              </a:rPr>
              <a:t> 'MAE': 1.2015739631652835, </a:t>
            </a: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'MAPE': 0.04937994677474915}</a:t>
            </a:r>
            <a:endParaRPr kumimoji="1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-736" t="-2638" r="736" b="2638"/>
          <a:stretch>
            <a:fillRect/>
          </a:stretch>
        </p:blipFill>
        <p:spPr>
          <a:xfrm>
            <a:off x="169545" y="3714115"/>
            <a:ext cx="5778500" cy="24072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950" y="3805555"/>
            <a:ext cx="5557520" cy="2315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7970.588976377952,&quot;width&quot;:11955.88188976378}"/>
</p:tagLst>
</file>

<file path=ppt/tags/tag3.xml><?xml version="1.0" encoding="utf-8"?>
<p:tagLst xmlns:p="http://schemas.openxmlformats.org/presentationml/2006/main">
  <p:tag name="KSO_WM_UNIT_PLACING_PICTURE_USER_VIEWPORT" val="{&quot;height&quot;:4060.807874015748,&quot;width&quot;:13147.226771653543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mJhYTYyNmQyZjIxZmM5OTQyZmY0ZGI0MzQzZDRiOTEifQ=="/>
  <p:tag name="KSO_WPP_MARK_KEY" val="be272ee5-5c15-47aa-89b8-45276ccf190a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2985</Words>
  <Application>WPS 演示</Application>
  <PresentationFormat>宽屏</PresentationFormat>
  <Paragraphs>172</Paragraphs>
  <Slides>18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方正细谭黑简体</vt:lpstr>
      <vt:lpstr>黑体</vt:lpstr>
      <vt:lpstr>等线</vt:lpstr>
      <vt:lpstr>Cambria Math</vt:lpstr>
      <vt:lpstr>pingfang SC</vt:lpstr>
      <vt:lpstr>Segoe Print</vt:lpstr>
      <vt:lpstr>-apple-system</vt:lpstr>
      <vt:lpstr>微软雅黑</vt:lpstr>
      <vt:lpstr>Arial Unicode MS</vt:lpstr>
      <vt:lpstr>Times New Roman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极简工作总结计划</dc:title>
  <dc:creator>第一PPT</dc:creator>
  <cp:keywords>www.1ppt.com</cp:keywords>
  <dc:description>www.1ppt.com</dc:description>
  <cp:lastModifiedBy>新时代好青年</cp:lastModifiedBy>
  <cp:revision>160</cp:revision>
  <dcterms:created xsi:type="dcterms:W3CDTF">2021-07-16T05:29:00Z</dcterms:created>
  <dcterms:modified xsi:type="dcterms:W3CDTF">2023-01-19T12:10:31Z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9238E643F11C456FAA0D88743192F35D</vt:lpwstr>
  </property>
  <property fmtid="{D5CDD505-2E9C-101B-9397-08002B2CF9AE}" pid="3" name="KSOProductBuildVer">
    <vt:lpwstr>2052-11.1.0.13703</vt:lpwstr>
  </property>
</Properties>
</file>