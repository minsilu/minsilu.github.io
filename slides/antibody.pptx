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12192000" cy="6858000"/>
  <p:notesSz cx="6858000" cy="9144000"/>
  <p:custDataLst>
    <p:tags r:id="rId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 2" initials="1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commentAuthors" Target="commentAuthors.xml"/><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这个是我大二期间在我们学院杜娟娟老师组做的</a:t>
            </a:r>
            <a:r>
              <a:rPr lang="en-US" altLang="zh-CN"/>
              <a:t>research</a:t>
            </a:r>
            <a:r>
              <a:rPr lang="zh-CN" altLang="en-US"/>
              <a:t>。关于双特异性抗体。</a:t>
            </a:r>
            <a:endParaRPr lang="zh-CN" altLang="en-US"/>
          </a:p>
          <a:p>
            <a:r>
              <a:rPr lang="zh-CN" altLang="en-US"/>
              <a:t>HER2 是人类表皮生长因子受体家族的成员。这种致癌基因的扩增或过度表达已被证明在某些侵袭性乳腺癌的发生和发展中起着重要作用。近年来，该蛋白已成为约 30%乳腺癌患者的重要生物标志物和治疗靶点</a:t>
            </a:r>
            <a:endParaRPr lang="zh-CN" altLang="en-US"/>
          </a:p>
          <a:p>
            <a:r>
              <a:rPr lang="en-US" altLang="zh-CN"/>
              <a:t>CXCR4</a:t>
            </a:r>
            <a:r>
              <a:rPr lang="zh-CN" altLang="en-US"/>
              <a:t>也是一种乳腺癌药物靶点，它会促进癌症部位的血管生成、细胞增殖。</a:t>
            </a:r>
            <a:endParaRPr lang="zh-CN" altLang="en-US"/>
          </a:p>
          <a:p>
            <a:r>
              <a:rPr lang="zh-CN" altLang="en-US"/>
              <a:t>我们在这个</a:t>
            </a:r>
            <a:r>
              <a:rPr lang="en-US" altLang="zh-CN"/>
              <a:t>project</a:t>
            </a:r>
            <a:r>
              <a:rPr lang="zh-CN" altLang="en-US"/>
              <a:t>中试图找出针对这两个靶点的双特异性抗体，我当时主要是帮助学姐对构件好的抗体文库进行测序，然后测定我们设计出来的抗体的</a:t>
            </a:r>
            <a:r>
              <a:rPr lang="en-US" altLang="zh-CN"/>
              <a:t>Kd</a:t>
            </a:r>
            <a:r>
              <a:rPr lang="zh-CN" altLang="en-US"/>
              <a:t>值</a:t>
            </a:r>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E2E3AE05-7DD1-4AF0-924E-BEEA496F373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1479550" cy="460375"/>
          </a:xfrm>
          <a:prstGeom prst="rect">
            <a:avLst/>
          </a:prstGeom>
          <a:noFill/>
        </p:spPr>
        <p:txBody>
          <a:bodyPr wrap="none" rtlCol="0">
            <a:spAutoFit/>
          </a:bodyPr>
          <a:lstStyle/>
          <a:p>
            <a:pPr marR="0" indent="0" defTabSz="914400" fontAlgn="auto">
              <a:lnSpc>
                <a:spcPct val="100000"/>
              </a:lnSpc>
              <a:spcBef>
                <a:spcPts val="0"/>
              </a:spcBef>
              <a:spcAft>
                <a:spcPts val="0"/>
              </a:spcAft>
              <a:buClrTx/>
              <a:buSzTx/>
              <a:buFontTx/>
              <a:buNone/>
              <a:defRPr/>
            </a:pPr>
            <a:r>
              <a:rPr kumimoji="1" lang="zh-CN" altLang="en-US" sz="2400" dirty="0">
                <a:solidFill>
                  <a:srgbClr val="44546A"/>
                </a:solidFill>
                <a:cs typeface="+mn-ea"/>
                <a:sym typeface="+mn-lt"/>
              </a:rPr>
              <a:t>Research</a:t>
            </a:r>
            <a:endParaRPr kumimoji="1" lang="zh-CN" altLang="en-US" sz="2400" dirty="0">
              <a:solidFill>
                <a:srgbClr val="44546A"/>
              </a:solidFill>
              <a:cs typeface="+mn-ea"/>
              <a:sym typeface="+mn-lt"/>
            </a:endParaRPr>
          </a:p>
        </p:txBody>
      </p:sp>
      <p:cxnSp>
        <p:nvCxnSpPr>
          <p:cNvPr id="5" name="直线连接符 4"/>
          <p:cNvCxnSpPr/>
          <p:nvPr/>
        </p:nvCxnSpPr>
        <p:spPr>
          <a:xfrm flipV="1">
            <a:off x="4617149" y="1731982"/>
            <a:ext cx="0" cy="41084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486410" y="1732280"/>
            <a:ext cx="1694815" cy="368300"/>
          </a:xfrm>
          <a:prstGeom prst="rect">
            <a:avLst/>
          </a:prstGeom>
          <a:noFill/>
        </p:spPr>
        <p:txBody>
          <a:bodyPr wrap="square" rtlCol="0">
            <a:spAutoFit/>
          </a:bodyPr>
          <a:lstStyle/>
          <a:p>
            <a:pPr>
              <a:defRPr/>
            </a:pPr>
            <a:r>
              <a:rPr kumimoji="1" lang="en-US" altLang="zh-CN" noProof="0" dirty="0">
                <a:solidFill>
                  <a:srgbClr val="44546A"/>
                </a:solidFill>
                <a:cs typeface="+mn-ea"/>
                <a:sym typeface="+mn-lt"/>
              </a:rPr>
              <a:t>Her2</a:t>
            </a:r>
            <a:endParaRPr kumimoji="1" lang="en-US" altLang="zh-CN" noProof="0" dirty="0">
              <a:solidFill>
                <a:srgbClr val="44546A"/>
              </a:solidFill>
              <a:cs typeface="+mn-ea"/>
              <a:sym typeface="+mn-lt"/>
            </a:endParaRPr>
          </a:p>
        </p:txBody>
      </p:sp>
      <p:sp>
        <p:nvSpPr>
          <p:cNvPr id="43" name="文本框 42"/>
          <p:cNvSpPr txBox="1"/>
          <p:nvPr/>
        </p:nvSpPr>
        <p:spPr>
          <a:xfrm>
            <a:off x="9373235" y="2056130"/>
            <a:ext cx="2494915" cy="2861310"/>
          </a:xfrm>
          <a:prstGeom prst="rect">
            <a:avLst/>
          </a:prstGeom>
          <a:noFill/>
        </p:spPr>
        <p:txBody>
          <a:bodyPr wrap="square" rtlCol="0">
            <a:spAutoFit/>
          </a:bodyPr>
          <a:lstStyle/>
          <a:p>
            <a:pPr marR="0" indent="0" defTabSz="914400" fontAlgn="auto">
              <a:lnSpc>
                <a:spcPct val="150000"/>
              </a:lnSpc>
              <a:spcBef>
                <a:spcPts val="0"/>
              </a:spcBef>
              <a:spcAft>
                <a:spcPts val="0"/>
              </a:spcAft>
              <a:buClrTx/>
              <a:buSzTx/>
              <a:buFontTx/>
              <a:buNone/>
              <a:defRPr/>
            </a:pPr>
            <a:r>
              <a:rPr kumimoji="1" lang="en-US" sz="1200" i="0" kern="1200" cap="none" spc="0" normalizeH="0" baseline="0" noProof="0" dirty="0">
                <a:solidFill>
                  <a:schemeClr val="accent3">
                    <a:lumMod val="50000"/>
                  </a:schemeClr>
                </a:solidFill>
                <a:cs typeface="+mn-ea"/>
                <a:sym typeface="+mn-lt"/>
              </a:rPr>
              <a:t>C</a:t>
            </a:r>
            <a:r>
              <a:rPr kumimoji="1" sz="1200" i="0" kern="1200" cap="none" spc="0" normalizeH="0" baseline="0" noProof="0" dirty="0">
                <a:solidFill>
                  <a:schemeClr val="accent3">
                    <a:lumMod val="50000"/>
                  </a:schemeClr>
                </a:solidFill>
                <a:cs typeface="+mn-ea"/>
                <a:sym typeface="+mn-lt"/>
              </a:rPr>
              <a:t>reened the strain and DNA sequencing</a:t>
            </a: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r>
              <a:rPr kumimoji="1" sz="1200" i="0" kern="1200" cap="none" spc="0" normalizeH="0" baseline="0" noProof="0" dirty="0">
                <a:solidFill>
                  <a:schemeClr val="accent3">
                    <a:lumMod val="50000"/>
                  </a:schemeClr>
                </a:solidFill>
                <a:cs typeface="+mn-ea"/>
                <a:sym typeface="+mn-lt"/>
              </a:rPr>
              <a:t>Determined the antibody Kd value of the experiment</a:t>
            </a: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r>
              <a:rPr kumimoji="1" sz="1200" i="0" kern="1200" cap="none" spc="0" normalizeH="0" baseline="0" noProof="0" dirty="0">
                <a:solidFill>
                  <a:schemeClr val="accent3">
                    <a:lumMod val="50000"/>
                  </a:schemeClr>
                </a:solidFill>
                <a:cs typeface="+mn-ea"/>
                <a:sym typeface="+mn-lt"/>
              </a:rPr>
              <a:t>Transformation and plasmid transfection experiments</a:t>
            </a: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endParaRPr kumimoji="1" sz="1200" i="0" kern="1200" cap="none" spc="0" normalizeH="0" baseline="0" noProof="0" dirty="0">
              <a:solidFill>
                <a:schemeClr val="accent3">
                  <a:lumMod val="50000"/>
                </a:schemeClr>
              </a:solidFill>
              <a:cs typeface="+mn-ea"/>
              <a:sym typeface="+mn-lt"/>
            </a:endParaRPr>
          </a:p>
          <a:p>
            <a:pPr marR="0" indent="0" defTabSz="914400" fontAlgn="auto">
              <a:lnSpc>
                <a:spcPct val="150000"/>
              </a:lnSpc>
              <a:spcBef>
                <a:spcPts val="0"/>
              </a:spcBef>
              <a:spcAft>
                <a:spcPts val="0"/>
              </a:spcAft>
              <a:buClrTx/>
              <a:buSzTx/>
              <a:buFontTx/>
              <a:buNone/>
              <a:defRPr/>
            </a:pPr>
            <a:endParaRPr kumimoji="1" sz="1200" i="0" kern="1200" cap="none" spc="0" normalizeH="0" baseline="0" noProof="0" dirty="0">
              <a:solidFill>
                <a:schemeClr val="accent3">
                  <a:lumMod val="50000"/>
                </a:schemeClr>
              </a:solidFill>
              <a:cs typeface="+mn-ea"/>
              <a:sym typeface="+mn-lt"/>
            </a:endParaRPr>
          </a:p>
        </p:txBody>
      </p:sp>
      <p:sp>
        <p:nvSpPr>
          <p:cNvPr id="18" name="文本框 17"/>
          <p:cNvSpPr txBox="1"/>
          <p:nvPr/>
        </p:nvSpPr>
        <p:spPr>
          <a:xfrm>
            <a:off x="4955198" y="1687537"/>
            <a:ext cx="916305" cy="368300"/>
          </a:xfrm>
          <a:prstGeom prst="rect">
            <a:avLst/>
          </a:prstGeom>
          <a:noFill/>
        </p:spPr>
        <p:txBody>
          <a:bodyPr wrap="none" rtlCol="0">
            <a:spAutoFit/>
          </a:bodyPr>
          <a:lstStyle/>
          <a:p>
            <a:pPr marR="0" indent="0" defTabSz="914400" fontAlgn="auto">
              <a:lnSpc>
                <a:spcPct val="100000"/>
              </a:lnSpc>
              <a:spcBef>
                <a:spcPts val="0"/>
              </a:spcBef>
              <a:spcAft>
                <a:spcPts val="0"/>
              </a:spcAft>
              <a:buClrTx/>
              <a:buSzTx/>
              <a:buFontTx/>
              <a:buNone/>
              <a:defRPr/>
            </a:pPr>
            <a:r>
              <a:rPr kumimoji="1" lang="en-US" altLang="zh-CN" dirty="0">
                <a:solidFill>
                  <a:srgbClr val="44546A"/>
                </a:solidFill>
                <a:cs typeface="+mn-ea"/>
                <a:sym typeface="+mn-lt"/>
              </a:rPr>
              <a:t>CXCR4</a:t>
            </a:r>
            <a:endParaRPr kumimoji="1" lang="en-US" altLang="zh-CN" dirty="0">
              <a:solidFill>
                <a:srgbClr val="44546A"/>
              </a:solidFill>
              <a:cs typeface="+mn-ea"/>
              <a:sym typeface="+mn-lt"/>
            </a:endParaRPr>
          </a:p>
        </p:txBody>
      </p:sp>
      <p:sp>
        <p:nvSpPr>
          <p:cNvPr id="39" name="文本框 38"/>
          <p:cNvSpPr txBox="1"/>
          <p:nvPr>
            <p:custDataLst>
              <p:tags r:id="rId1"/>
            </p:custDataLst>
          </p:nvPr>
        </p:nvSpPr>
        <p:spPr>
          <a:xfrm>
            <a:off x="1151652" y="1070771"/>
            <a:ext cx="5754370" cy="460375"/>
          </a:xfrm>
          <a:prstGeom prst="rect">
            <a:avLst/>
          </a:prstGeom>
          <a:noFill/>
        </p:spPr>
        <p:txBody>
          <a:bodyPr wrap="none" rtlCol="0">
            <a:spAutoFit/>
          </a:bodyPr>
          <a:p>
            <a:pPr marR="0" indent="0" defTabSz="914400" fontAlgn="auto">
              <a:lnSpc>
                <a:spcPct val="100000"/>
              </a:lnSpc>
              <a:spcBef>
                <a:spcPts val="0"/>
              </a:spcBef>
              <a:spcAft>
                <a:spcPts val="0"/>
              </a:spcAft>
              <a:buClrTx/>
              <a:buSzTx/>
              <a:buFontTx/>
              <a:buNone/>
              <a:defRPr/>
            </a:pPr>
            <a:r>
              <a:rPr kumimoji="1" sz="2400" noProof="0" dirty="0">
                <a:solidFill>
                  <a:srgbClr val="44546A"/>
                </a:solidFill>
                <a:cs typeface="+mn-ea"/>
                <a:sym typeface="+mn-lt"/>
              </a:rPr>
              <a:t>Her2 and CXCR4 bispecific antibodies</a:t>
            </a:r>
            <a:r>
              <a:rPr kumimoji="1" lang="zh-CN" altLang="en-US" sz="2400" b="0" i="0" kern="1200" cap="none" spc="0" normalizeH="0" baseline="0" noProof="0" dirty="0">
                <a:solidFill>
                  <a:srgbClr val="44546A"/>
                </a:solidFill>
                <a:cs typeface="+mn-ea"/>
                <a:sym typeface="+mn-lt"/>
              </a:rPr>
              <a:t> </a:t>
            </a:r>
            <a:endParaRPr kumimoji="1" lang="zh-CN" altLang="en-US" sz="2400" b="0" i="0" kern="1200" cap="none" spc="0" normalizeH="0" baseline="0" noProof="0" dirty="0">
              <a:solidFill>
                <a:srgbClr val="44546A"/>
              </a:solidFill>
              <a:cs typeface="+mn-ea"/>
              <a:sym typeface="+mn-lt"/>
            </a:endParaRPr>
          </a:p>
        </p:txBody>
      </p:sp>
      <p:sp>
        <p:nvSpPr>
          <p:cNvPr id="17" name="文本框 16"/>
          <p:cNvSpPr txBox="1"/>
          <p:nvPr/>
        </p:nvSpPr>
        <p:spPr>
          <a:xfrm>
            <a:off x="486410" y="6042025"/>
            <a:ext cx="11219180" cy="521970"/>
          </a:xfrm>
          <a:prstGeom prst="rect">
            <a:avLst/>
          </a:prstGeom>
          <a:noFill/>
        </p:spPr>
        <p:txBody>
          <a:bodyPr wrap="square" rtlCol="0" anchor="t">
            <a:spAutoFit/>
          </a:bodyPr>
          <a:p>
            <a:r>
              <a:rPr lang="zh-CN" altLang="en-US" sz="1400">
                <a:solidFill>
                  <a:schemeClr val="accent3">
                    <a:lumMod val="50000"/>
                  </a:schemeClr>
                </a:solidFill>
              </a:rPr>
              <a:t>Xu, C., Zhao, H., Chen, H., &amp; Yao, Q. (2015). CXCR4 in breast cancer: oncogenic role and therapeutic targeting. Drug design, development and therapy, 9, 4953.</a:t>
            </a:r>
            <a:endParaRPr lang="zh-CN" altLang="en-US" sz="1400">
              <a:solidFill>
                <a:schemeClr val="accent3">
                  <a:lumMod val="50000"/>
                </a:schemeClr>
              </a:solidFill>
            </a:endParaRPr>
          </a:p>
        </p:txBody>
      </p:sp>
      <p:pic>
        <p:nvPicPr>
          <p:cNvPr id="100" name="图片 99"/>
          <p:cNvPicPr/>
          <p:nvPr/>
        </p:nvPicPr>
        <p:blipFill>
          <a:blip r:embed="rId2"/>
          <a:srcRect l="4823" r="2916" b="8690"/>
          <a:stretch>
            <a:fillRect/>
          </a:stretch>
        </p:blipFill>
        <p:spPr>
          <a:xfrm>
            <a:off x="368935" y="2301875"/>
            <a:ext cx="4117975" cy="2748915"/>
          </a:xfrm>
          <a:prstGeom prst="rect">
            <a:avLst/>
          </a:prstGeom>
          <a:noFill/>
          <a:ln w="9525">
            <a:noFill/>
          </a:ln>
        </p:spPr>
      </p:pic>
      <p:pic>
        <p:nvPicPr>
          <p:cNvPr id="3" name="图片 2"/>
          <p:cNvPicPr/>
          <p:nvPr/>
        </p:nvPicPr>
        <p:blipFill>
          <a:blip r:embed="rId3"/>
          <a:stretch>
            <a:fillRect/>
          </a:stretch>
        </p:blipFill>
        <p:spPr>
          <a:xfrm>
            <a:off x="4747260" y="2301875"/>
            <a:ext cx="4094480" cy="28086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MmJhYTYyNmQyZjIxZmM5OTQyZmY0ZGI0MzQzZDRiOT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350</Words>
  <Application>WPS 演示</Application>
  <PresentationFormat>宽屏</PresentationFormat>
  <Paragraphs>18</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Arial Unicode MS</vt:lpstr>
      <vt:lpstr>Calibri</vt:lpstr>
      <vt:lpstr>微软雅黑</vt:lpstr>
      <vt:lpstr>等线</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2 1</dc:creator>
  <cp:lastModifiedBy>新时代好青年</cp:lastModifiedBy>
  <cp:revision>2</cp:revision>
  <dcterms:created xsi:type="dcterms:W3CDTF">2023-03-13T06:22:00Z</dcterms:created>
  <dcterms:modified xsi:type="dcterms:W3CDTF">2023-03-13T06:22:47Z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310ECD080ABA4D9EB9076CA4FCF12985</vt:lpwstr>
  </property>
  <property fmtid="{D5CDD505-2E9C-101B-9397-08002B2CF9AE}" pid="3" name="KSOProductBuildVer">
    <vt:lpwstr>2052-11.1.0.13703</vt:lpwstr>
  </property>
</Properties>
</file>